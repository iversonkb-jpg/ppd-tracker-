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update only — no decision needed today. The tracker is a working prototype covering the full KM/BP submission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Irama, mid-flight. Steps 1-3 closed, step 4 overdue in red, step 5 due within the week in orange, clearance running in yellow, later steps grey. Step 2 carries a red ring: completed, but after its target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Durations are held per business unit in days. A new project needs only its first two target dates; the rest of the programme is computed.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agency list for two business units, showing the same roles mapping to different local authorities. Right: the step 6 clearance workroom, 24 agencies on one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shift: the tracker turns status reporting from a separate chore into a by-product of the work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6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 / BP Authority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993392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FD3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Tracker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update — working prototype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3310128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A9C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record of every authority submission, from design approval to AP — replacing the per-project spreadsheet, the email thread and the manual status chase.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207008" y="5202936"/>
            <a:ext cx="182880" cy="32004"/>
          </a:xfrm>
          <a:prstGeom prst="rect">
            <a:avLst/>
          </a:prstGeom>
          <a:solidFill>
            <a:srgbClr val="2E7248"/>
          </a:solidFill>
          <a:ln w="12700">
            <a:solidFill>
              <a:srgbClr val="2E72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5029200"/>
            <a:ext cx="384048" cy="384048"/>
          </a:xfrm>
          <a:prstGeom prst="ellipse">
            <a:avLst/>
          </a:prstGeom>
          <a:solidFill>
            <a:srgbClr val="9FD3B4"/>
          </a:solidFill>
          <a:ln w="12700">
            <a:solidFill>
              <a:srgbClr val="9FD3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73936" y="5202936"/>
            <a:ext cx="182880" cy="32004"/>
          </a:xfrm>
          <a:prstGeom prst="rect">
            <a:avLst/>
          </a:prstGeom>
          <a:solidFill>
            <a:srgbClr val="2E7248"/>
          </a:solidFill>
          <a:ln w="12700">
            <a:solidFill>
              <a:srgbClr val="2E72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5029200"/>
            <a:ext cx="384048" cy="384048"/>
          </a:xfrm>
          <a:prstGeom prst="ellipse">
            <a:avLst/>
          </a:prstGeom>
          <a:solidFill>
            <a:srgbClr val="9FD3B4"/>
          </a:solidFill>
          <a:ln w="12700">
            <a:solidFill>
              <a:srgbClr val="9FD3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40864" y="5202936"/>
            <a:ext cx="182880" cy="32004"/>
          </a:xfrm>
          <a:prstGeom prst="rect">
            <a:avLst/>
          </a:prstGeom>
          <a:solidFill>
            <a:srgbClr val="2E7248"/>
          </a:solidFill>
          <a:ln w="12700">
            <a:solidFill>
              <a:srgbClr val="2E72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56816" y="5029200"/>
            <a:ext cx="384048" cy="384048"/>
          </a:xfrm>
          <a:prstGeom prst="ellipse">
            <a:avLst/>
          </a:prstGeom>
          <a:solidFill>
            <a:srgbClr val="9FD3B4"/>
          </a:solidFill>
          <a:ln w="12700">
            <a:solidFill>
              <a:srgbClr val="9FD3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56816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07792" y="5202936"/>
            <a:ext cx="182880" cy="32004"/>
          </a:xfrm>
          <a:prstGeom prst="rect">
            <a:avLst/>
          </a:prstGeom>
          <a:solidFill>
            <a:srgbClr val="2E7248"/>
          </a:solidFill>
          <a:ln w="12700">
            <a:solidFill>
              <a:srgbClr val="2E72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3744" y="5029200"/>
            <a:ext cx="384048" cy="384048"/>
          </a:xfrm>
          <a:prstGeom prst="ellipse">
            <a:avLst/>
          </a:prstGeom>
          <a:solidFill>
            <a:srgbClr val="1F6B39"/>
          </a:solidFill>
          <a:ln w="12700">
            <a:solidFill>
              <a:srgbClr val="3A83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23744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5202936"/>
            <a:ext cx="182880" cy="32004"/>
          </a:xfrm>
          <a:prstGeom prst="rect">
            <a:avLst/>
          </a:prstGeom>
          <a:solidFill>
            <a:srgbClr val="2E7248"/>
          </a:solidFill>
          <a:ln w="12700">
            <a:solidFill>
              <a:srgbClr val="2E72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5029200"/>
            <a:ext cx="384048" cy="384048"/>
          </a:xfrm>
          <a:prstGeom prst="ellipse">
            <a:avLst/>
          </a:prstGeom>
          <a:solidFill>
            <a:srgbClr val="1F6B39"/>
          </a:solidFill>
          <a:ln w="12700">
            <a:solidFill>
              <a:srgbClr val="3A83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0672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41648" y="5202936"/>
            <a:ext cx="182880" cy="32004"/>
          </a:xfrm>
          <a:prstGeom prst="rect">
            <a:avLst/>
          </a:prstGeom>
          <a:solidFill>
            <a:srgbClr val="2E7248"/>
          </a:solidFill>
          <a:ln w="12700">
            <a:solidFill>
              <a:srgbClr val="2E72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5029200"/>
            <a:ext cx="384048" cy="384048"/>
          </a:xfrm>
          <a:prstGeom prst="ellipse">
            <a:avLst/>
          </a:prstGeom>
          <a:solidFill>
            <a:srgbClr val="1F6B39"/>
          </a:solidFill>
          <a:ln w="12700">
            <a:solidFill>
              <a:srgbClr val="3A83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08576" y="5202936"/>
            <a:ext cx="182880" cy="32004"/>
          </a:xfrm>
          <a:prstGeom prst="rect">
            <a:avLst/>
          </a:prstGeom>
          <a:solidFill>
            <a:srgbClr val="2E7248"/>
          </a:solidFill>
          <a:ln w="12700">
            <a:solidFill>
              <a:srgbClr val="2E72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24528" y="5029200"/>
            <a:ext cx="384048" cy="384048"/>
          </a:xfrm>
          <a:prstGeom prst="ellipse">
            <a:avLst/>
          </a:prstGeom>
          <a:solidFill>
            <a:srgbClr val="1F6B39"/>
          </a:solidFill>
          <a:ln w="12700">
            <a:solidFill>
              <a:srgbClr val="3A83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75504" y="5202936"/>
            <a:ext cx="182880" cy="32004"/>
          </a:xfrm>
          <a:prstGeom prst="rect">
            <a:avLst/>
          </a:prstGeom>
          <a:solidFill>
            <a:srgbClr val="2E7248"/>
          </a:solidFill>
          <a:ln w="12700">
            <a:solidFill>
              <a:srgbClr val="2E72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91456" y="5029200"/>
            <a:ext cx="384048" cy="384048"/>
          </a:xfrm>
          <a:prstGeom prst="ellipse">
            <a:avLst/>
          </a:prstGeom>
          <a:solidFill>
            <a:srgbClr val="1F6B39"/>
          </a:solidFill>
          <a:ln w="12700">
            <a:solidFill>
              <a:srgbClr val="3A83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42432" y="5202936"/>
            <a:ext cx="182880" cy="32004"/>
          </a:xfrm>
          <a:prstGeom prst="rect">
            <a:avLst/>
          </a:prstGeom>
          <a:solidFill>
            <a:srgbClr val="2E7248"/>
          </a:solidFill>
          <a:ln w="12700">
            <a:solidFill>
              <a:srgbClr val="2E724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58384" y="5029200"/>
            <a:ext cx="384048" cy="384048"/>
          </a:xfrm>
          <a:prstGeom prst="ellipse">
            <a:avLst/>
          </a:prstGeom>
          <a:solidFill>
            <a:srgbClr val="1F6B39"/>
          </a:solidFill>
          <a:ln w="12700">
            <a:solidFill>
              <a:srgbClr val="3A83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58384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5202936"/>
            <a:ext cx="182880" cy="32004"/>
          </a:xfrm>
          <a:prstGeom prst="rect">
            <a:avLst/>
          </a:prstGeom>
          <a:solidFill>
            <a:srgbClr val="2E7248"/>
          </a:solidFill>
          <a:ln w="12700">
            <a:solidFill>
              <a:srgbClr val="2E724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25312" y="5029200"/>
            <a:ext cx="384048" cy="384048"/>
          </a:xfrm>
          <a:prstGeom prst="ellipse">
            <a:avLst/>
          </a:prstGeom>
          <a:solidFill>
            <a:srgbClr val="1F6B39"/>
          </a:solidFill>
          <a:ln w="12700">
            <a:solidFill>
              <a:srgbClr val="3A83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5312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92240" y="5029200"/>
            <a:ext cx="384048" cy="384048"/>
          </a:xfrm>
          <a:prstGeom prst="ellipse">
            <a:avLst/>
          </a:prstGeom>
          <a:solidFill>
            <a:srgbClr val="1F6B39"/>
          </a:solidFill>
          <a:ln w="12700">
            <a:solidFill>
              <a:srgbClr val="3A83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5029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22960" y="5623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A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steps · 24 authorities · every business unit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402336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live picture of every submission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a by-product of doing the work — nobody maintains it</a:t>
            </a:r>
            <a:endParaRPr lang="en-US" sz="1300" dirty="0"/>
          </a:p>
        </p:txBody>
      </p:sp>
      <p:pic>
        <p:nvPicPr>
          <p:cNvPr id="6" name="Image 0" descr="s_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98448"/>
            <a:ext cx="1060704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029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524865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colour-coded Excel per project, updated by hand. Delay surfaces when someone reads the sheet — or when the authority calls.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5907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1264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colours itself from its own dates: on track, due within a week, overdue, completed late. KM and BP clearance run in parallel and both stay visible.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675120" y="507492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7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8001000" y="51937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the project target date, counted down automatically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402336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programme builds itself — and re-plans when things slip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durations per business unit, applied to every new project</a:t>
            </a:r>
            <a:endParaRPr lang="en-US" sz="1300" dirty="0"/>
          </a:p>
        </p:txBody>
      </p:sp>
      <p:pic>
        <p:nvPicPr>
          <p:cNvPr id="6" name="Image 0" descr="s_du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029200" cy="2514600"/>
          </a:xfrm>
          <a:prstGeom prst="rect">
            <a:avLst/>
          </a:prstGeom>
        </p:spPr>
      </p:pic>
      <p:pic>
        <p:nvPicPr>
          <p:cNvPr id="7" name="Image 1" descr="s_dat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577840" cy="29992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3977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standard once…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035040" y="44622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every project inherits it, with variances flagged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4892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511149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PM works out 11 step dates by hand. Two PMs produce two different programmes, and a slip means re-typing every date downstream.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48640" y="57698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5989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two start dates and steps 3-11 compute themselves. When a date moves, Recompute re-chains the rest and keeps the dates you set by hand.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035040" y="4892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035040" y="511149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see whether a project is planned to the agreed standard.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035040" y="56144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035040" y="58338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shows its own duration beside the business-unit standard, and flags where the project differs.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402336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authority, every state — and the hardest step handled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24128" y="8686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once per business unit, then inherited by its projects</a:t>
            </a:r>
            <a:endParaRPr lang="en-US" sz="1300" dirty="0"/>
          </a:p>
        </p:txBody>
      </p:sp>
      <p:pic>
        <p:nvPicPr>
          <p:cNvPr id="6" name="Image 0" descr="s_bu_s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286000" cy="3959352"/>
          </a:xfrm>
          <a:prstGeom prst="rect">
            <a:avLst/>
          </a:prstGeom>
        </p:spPr>
      </p:pic>
      <p:pic>
        <p:nvPicPr>
          <p:cNvPr id="7" name="Image 1" descr="s_bu_g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371600"/>
            <a:ext cx="2286000" cy="3959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394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 · Eco Sun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971800" y="53949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Selangor · Eco Grandeur</a:t>
            </a:r>
            <a:endParaRPr lang="en-US" sz="1100" dirty="0"/>
          </a:p>
        </p:txBody>
      </p:sp>
      <p:pic>
        <p:nvPicPr>
          <p:cNvPr id="10" name="Image 2" descr="s_clear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71600"/>
            <a:ext cx="5943600" cy="2505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9280" y="40416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669280" y="4261104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business unit keeps its own agency list in its own format, and clearance runs in 24 separate email threads. Appeals, conditions and resubmission rounds live in a notebook.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669280" y="4956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669280" y="5175504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role is a different authority in each state — MBSP in Penang, MPKS in Selangor — each marked as affecting KM, BP or both. Clearance tracks letters, appeals, CDO approval and every resubmission round, per agency.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6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changes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26187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11 steps, same rules, every project and every business unit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402336" cy="402336"/>
          </a:xfrm>
          <a:prstGeom prst="ellipse">
            <a:avLst/>
          </a:prstGeom>
          <a:solidFill>
            <a:srgbClr val="9FD3B4"/>
          </a:solidFill>
          <a:ln w="12700">
            <a:solidFill>
              <a:srgbClr val="9FD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6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965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maintains itself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0" y="1947672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comes from the dates and the work done, not from someone updating a sheet before a meeting.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035808"/>
            <a:ext cx="402336" cy="402336"/>
          </a:xfrm>
          <a:prstGeom prst="ellipse">
            <a:avLst/>
          </a:prstGeom>
          <a:solidFill>
            <a:srgbClr val="9FD3B4"/>
          </a:solidFill>
          <a:ln w="12700">
            <a:solidFill>
              <a:srgbClr val="9FD3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358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6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990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dates are captured once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0" y="2971800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submission date entered on the working page is the actual date — no re-keying into a separate tracker.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059936"/>
            <a:ext cx="402336" cy="402336"/>
          </a:xfrm>
          <a:prstGeom prst="ellipse">
            <a:avLst/>
          </a:prstGeom>
          <a:solidFill>
            <a:srgbClr val="9FD3B4"/>
          </a:solidFill>
          <a:ln w="12700">
            <a:solidFill>
              <a:srgbClr val="9FD3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59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6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01421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KM and BP are modelled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03520" y="3995928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clearance paths are tracked separately and must land before BP approval — a single Gantt row cannot show this.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084064"/>
            <a:ext cx="402336" cy="402336"/>
          </a:xfrm>
          <a:prstGeom prst="ellipse">
            <a:avLst/>
          </a:prstGeom>
          <a:solidFill>
            <a:srgbClr val="9FD3B4"/>
          </a:solidFill>
          <a:ln w="12700">
            <a:solidFill>
              <a:srgbClr val="9FD3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840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6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5038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project is a form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0" y="5020056"/>
            <a:ext cx="6217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dates in, a full 11-step programme out, using that business unit's agreed durations and authority list.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KM/BP Authority Submission Tracker</dc:title>
  <dc:subject>PptxGenJS Presentation</dc:subject>
  <dc:creator>PPD</dc:creator>
  <cp:lastModifiedBy>PPD</cp:lastModifiedBy>
  <cp:revision>1</cp:revision>
  <dcterms:created xsi:type="dcterms:W3CDTF">2026-07-30T03:11:27Z</dcterms:created>
  <dcterms:modified xsi:type="dcterms:W3CDTF">2026-07-30T03:11:27Z</dcterms:modified>
</cp:coreProperties>
</file>